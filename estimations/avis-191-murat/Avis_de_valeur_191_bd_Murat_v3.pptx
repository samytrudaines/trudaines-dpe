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20"/>
    <p:sldId id="257" r:id="rId3"/>
    <p:sldId id="258" r:id="rId4"/>
    <p:sldId id="259" r:id="rId5"/>
    <p:sldId id="261" r:id="rId7"/>
    <p:sldId id="262" r:id="rId8"/>
    <p:sldId id="263" r:id="rId9"/>
    <p:sldId id="270" r:id="rId21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€/m² acté · ventes 4P proches</c:v>
                </c:pt>
              </c:strCache>
            </c:strRef>
          </c:tx>
          <c:spPr>
            <a:solidFill>
              <a:srgbClr val="A9853B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Montserrat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180 Blériot · 5e</c:v>
                  </c:pt>
                  <c:pt idx="1">
                    <c:v>2 Fantin · 2e</c:v>
                  </c:pt>
                  <c:pt idx="2">
                    <c:v>185 Murat · 5e</c:v>
                  </c:pt>
                  <c:pt idx="3">
                    <c:v>8 Fantin · 7e</c:v>
                  </c:pt>
                  <c:pt idx="4">
                    <c:v>8 Fantin · 2e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8273</c:v>
                </c:pt>
                <c:pt idx="1">
                  <c:v>8804</c:v>
                </c:pt>
                <c:pt idx="2">
                  <c:v>9146</c:v>
                </c:pt>
                <c:pt idx="3">
                  <c:v>10751</c:v>
                </c:pt>
                <c:pt idx="4">
                  <c:v>10859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Montserrat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A828E"/>
                </a:solidFill>
                <a:latin typeface="Montserrat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  <c:min val="9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s/p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0"/>
            <a:ext cx="68424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4924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502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500" kern="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TRUDAINES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0" kern="0" dirty="0">
                <a:solidFill>
                  <a:srgbClr val="A985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CONSEIL &amp; VALORISATION IMMOBILIÈRE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66928" y="2331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AVIS DE VALEUR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191 boulevard Murat · Paris 16e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66928" y="371246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Appartement 4 pièces · 85 m² (Carrez à confirmer)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7e et dernier étage avec ascenseur · 3 chambres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5623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Réf. dossier  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MURAT-4P · NOCHIAU
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Établi le  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 septembre 2026
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Données  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DVF (DGFiP) · MeilleursAgents · SeLoger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L'ESSENTIEL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Synthèse de l'avis de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724912" cy="1481328"/>
          </a:xfrm>
          <a:prstGeom prst="roundRect">
            <a:avLst>
              <a:gd name="adj" fmla="val 3704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276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VALEUR VÉNALE CENTRALE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04088" y="1865376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950 000 €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04088" y="2578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septembre 2026, libre de toute occupation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28416" y="1481328"/>
            <a:ext cx="2724912" cy="1481328"/>
          </a:xfrm>
          <a:prstGeom prst="roundRect">
            <a:avLst>
              <a:gd name="adj" fmla="val 3704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6276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FOURCHETTE DE VALEUR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9584" y="1865376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880 000 – 990 000 €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9584" y="2578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convergence de 4 méthodes (écart ±1,6 %)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53912" y="1481328"/>
            <a:ext cx="2724912" cy="1481328"/>
          </a:xfrm>
          <a:prstGeom prst="roundRect">
            <a:avLst>
              <a:gd name="adj" fmla="val 3704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276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PRIX AU M² RETENU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865376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11 176 €/m²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355080" y="2578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 m² · 7e et dernier étage ascenseur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79408" y="1481328"/>
            <a:ext cx="2724912" cy="1481328"/>
          </a:xfrm>
          <a:prstGeom prst="roundRect">
            <a:avLst>
              <a:gd name="adj" fmla="val 3704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6276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PRIX DE PRÉSENTATION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0576" y="1865376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B3402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995 000 €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180576" y="2578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 conseillé · sous le seuil du million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CE QUI FONDE L'AVIS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53872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lectures indépendantes convergent entre 935 000 € et 965 000 € : comparables DVF ajustés, borne haute MeilleursAgents de l'adresse, cote SeLoger du boulevard ajustée et vente indexée dans l'immeuble.</a:t>
            </a:r>
            <a:endParaRPr lang="en-US" sz="1100" dirty="0"/>
          </a:p>
          <a:p>
            <a:pPr marL="152400" indent="-1524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ventes comparables à moins de 100 m depuis 2024 : les étages élevés et les biens rénovés signent au-dessus de 10 700 €/m² (8 Fantin-Latour, 185 Murat), quand la base bon état ressort entre 9 700 et 10 400 €/m².</a:t>
            </a:r>
            <a:endParaRPr lang="en-US" sz="1100" dirty="0"/>
          </a:p>
          <a:p>
            <a:pPr marL="152400" indent="-1524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quartier Auteuil réamorce sa hausse : + 1,9 % sur 3 mois après un cycle de correction (− 9,6 % sur 5 ans), et + 3,7 % sur un an pour le 16e selon les Notaires. Vendre aujourd'hui, c'est vendre dans un marché reparti.</a:t>
            </a:r>
            <a:endParaRPr lang="en-US" sz="1100" dirty="0"/>
          </a:p>
          <a:p>
            <a:pPr marL="152400" indent="-1524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Atouts prime : 7e et dernier étage avec ascenseur, rénovation luxueuse, rangements encastrés, huisseries premium, parties communes refaites, climatisation possible en toiture. Vigilance : DPE à établir, Carrez à confirmer.</a:t>
            </a:r>
            <a:endParaRPr lang="en-US" sz="1100" dirty="0"/>
          </a:p>
        </p:txBody>
      </p:sp>
      <p:pic>
        <p:nvPicPr>
          <p:cNvPr id="22" name="Image 0" descr="photos/p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3246120"/>
            <a:ext cx="4050792" cy="208483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635240" y="5020056"/>
            <a:ext cx="4050792" cy="310896"/>
          </a:xfrm>
          <a:prstGeom prst="rect">
            <a:avLst/>
          </a:prstGeom>
          <a:solidFill>
            <a:srgbClr val="1F2A44">
              <a:alpha val="8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744968" y="5020056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Séjour en dernier étage · photo à intégrer au dossier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635240" y="5486400"/>
            <a:ext cx="4050792" cy="841248"/>
          </a:xfrm>
          <a:prstGeom prst="roundRect">
            <a:avLst>
              <a:gd name="adj" fmla="val 6522"/>
            </a:avLst>
          </a:prstGeom>
          <a:solidFill>
            <a:srgbClr val="1F2A44"/>
          </a:solidFill>
          <a:ln/>
        </p:spPr>
      </p:sp>
      <p:sp>
        <p:nvSpPr>
          <p:cNvPr id="26" name="Text 23"/>
          <p:cNvSpPr/>
          <p:nvPr/>
        </p:nvSpPr>
        <p:spPr>
          <a:xfrm>
            <a:off x="7818120" y="5486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Prix de présentation conseillé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995 000 €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 BIEN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Fiche technique &amp; distribution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ADRESSE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331720" y="15179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191 boulevard Murat, 75016 Paris · quartier Auteuil Sud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502920" y="1911096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476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TYPE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331720" y="1947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Appartement 4 pièces · 3 chambres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SURFACES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85 m² annoncés · Carrez à confirmer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770632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ÉTAGE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31720" y="2807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7e et dernier étage, avec ascenseur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369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HAUTEUR SOUS PLAFOND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32369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À confirmer en visite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02920" y="3630168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667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EXPOSITION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3666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Ciel dégagé de dernier étage · à constater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4059936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965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CHAUFFAGE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4096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À préciser au dossier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" y="4489704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26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CHARGES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3172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À préciser · petite copropriété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2920" y="4919472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956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COPROPRIÉTÉ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31720" y="49560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14 logements · parties communes refaites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2920" y="5349240"/>
            <a:ext cx="525780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385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DPE / GES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31720" y="53858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À établir · principale variable de prix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1722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PRESTATIONS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1824228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35" name="Text 33"/>
          <p:cNvSpPr/>
          <p:nvPr/>
        </p:nvSpPr>
        <p:spPr>
          <a:xfrm>
            <a:off x="6373368" y="1755648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Séjour de dernier étage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volumes clairs sous le ciel de Paris, aucun vis-à-vis surplombant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172200" y="2322576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2253996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Cuisine équipée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finitions haut de gamme, électroménager premium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172200" y="2820924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39" name="Text 37"/>
          <p:cNvSpPr/>
          <p:nvPr/>
        </p:nvSpPr>
        <p:spPr>
          <a:xfrm>
            <a:off x="6373368" y="2752344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Trois chambres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rangements encastrés sur mesure dans chaque pièce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172200" y="3319272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3250692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Huisseries premium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menuiseries de qualité supérieure, confort thermique et acoustique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172200" y="3817620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43" name="Text 41"/>
          <p:cNvSpPr/>
          <p:nvPr/>
        </p:nvSpPr>
        <p:spPr>
          <a:xfrm>
            <a:off x="6373368" y="374904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Rangements invisibles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aménagements intégrés, surfaces optimisées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172200" y="4315968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45" name="Text 43"/>
          <p:cNvSpPr/>
          <p:nvPr/>
        </p:nvSpPr>
        <p:spPr>
          <a:xfrm>
            <a:off x="6373368" y="4247388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Salle d'eau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contemporaine, prestations soignées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172200" y="4814316"/>
            <a:ext cx="82296" cy="82296"/>
          </a:xfrm>
          <a:prstGeom prst="rect">
            <a:avLst/>
          </a:prstGeom>
          <a:solidFill>
            <a:srgbClr val="A9853B"/>
          </a:solidFill>
          <a:ln/>
        </p:spPr>
      </p:sp>
      <p:sp>
        <p:nvSpPr>
          <p:cNvPr id="47" name="Text 45"/>
          <p:cNvSpPr/>
          <p:nvPr/>
        </p:nvSpPr>
        <p:spPr>
          <a:xfrm>
            <a:off x="6373368" y="4745736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Cave &amp; climatisation  —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cave en sous-sol ; climatisation possible en toiture, avec accord de la copropriété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6172200" y="5413248"/>
            <a:ext cx="5513832" cy="932688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413248"/>
            <a:ext cx="5148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50" spc="15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SIGNATURE 1910   </a:t>
            </a:r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pierre de taille signée L. Dumalanède · hall refait, carreaux de ciment · rénovation luxueuse · rangements encastrés · huisseries premium · dernier étage avec ascenseur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bien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 BIEN EN IMAGES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Vues du bien · à compléter avec le reportage photo</a:t>
            </a:r>
            <a:endParaRPr lang="en-US" sz="2700" dirty="0"/>
          </a:p>
        </p:txBody>
      </p:sp>
      <p:pic>
        <p:nvPicPr>
          <p:cNvPr id="4" name="Image 0" descr="photos/p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59893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998464"/>
            <a:ext cx="5989320" cy="310896"/>
          </a:xfrm>
          <a:prstGeom prst="rect">
            <a:avLst/>
          </a:prstGeom>
          <a:solidFill>
            <a:srgbClr val="1F2A44">
              <a:alpha val="8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12648" y="5998464"/>
            <a:ext cx="5769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Séjour en dernier étage · photo à intégrer au dossier</a:t>
            </a:r>
            <a:endParaRPr lang="en-US" sz="900" dirty="0"/>
          </a:p>
        </p:txBody>
      </p:sp>
      <p:pic>
        <p:nvPicPr>
          <p:cNvPr id="7" name="Image 1" descr="photos/p0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0256" y="1417320"/>
            <a:ext cx="2683764" cy="2382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0256" y="3488436"/>
            <a:ext cx="2683764" cy="310896"/>
          </a:xfrm>
          <a:prstGeom prst="rect">
            <a:avLst/>
          </a:prstGeom>
          <a:solidFill>
            <a:srgbClr val="1F2A44">
              <a:alpha val="82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6729984" y="3488436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Cuisine · à intégrer</a:t>
            </a:r>
            <a:endParaRPr lang="en-US" sz="900" dirty="0"/>
          </a:p>
        </p:txBody>
      </p:sp>
      <p:pic>
        <p:nvPicPr>
          <p:cNvPr id="10" name="Image 2" descr="photos/p1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13748" y="1417320"/>
            <a:ext cx="2683764" cy="238201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413748" y="3488436"/>
            <a:ext cx="2683764" cy="310896"/>
          </a:xfrm>
          <a:prstGeom prst="rect">
            <a:avLst/>
          </a:prstGeom>
          <a:solidFill>
            <a:srgbClr val="1F2A44">
              <a:alpha val="82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9523476" y="3488436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Rangements sur mesure · à intégrer</a:t>
            </a:r>
            <a:endParaRPr lang="en-US" sz="900" dirty="0"/>
          </a:p>
        </p:txBody>
      </p:sp>
      <p:pic>
        <p:nvPicPr>
          <p:cNvPr id="13" name="Image 3" descr="photos/p0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20256" y="3927348"/>
            <a:ext cx="2683764" cy="238201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620256" y="5998464"/>
            <a:ext cx="2683764" cy="310896"/>
          </a:xfrm>
          <a:prstGeom prst="rect">
            <a:avLst/>
          </a:prstGeom>
          <a:solidFill>
            <a:srgbClr val="1F2A44">
              <a:alpha val="82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6729984" y="5998464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Entrée et dégagements · à intégrer</a:t>
            </a:r>
            <a:endParaRPr lang="en-US" sz="900" dirty="0"/>
          </a:p>
        </p:txBody>
      </p:sp>
      <p:pic>
        <p:nvPicPr>
          <p:cNvPr id="16" name="Image 4" descr="photos/p0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13748" y="3927348"/>
            <a:ext cx="2683764" cy="238201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9413748" y="5998464"/>
            <a:ext cx="2683764" cy="310896"/>
          </a:xfrm>
          <a:prstGeom prst="rect">
            <a:avLst/>
          </a:prstGeom>
          <a:solidFill>
            <a:srgbClr val="1F2A44">
              <a:alpha val="82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9523476" y="5998464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Hall rénové · carreaux de ciment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Photographies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ANALYSE DE MARCHÉ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Trois lectures du secteur au 1er septembre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39312" cy="3017520"/>
          </a:xfrm>
          <a:prstGeom prst="roundRect">
            <a:avLst>
              <a:gd name="adj" fmla="val 2121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8249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MEILLEURSAGENTS — L'ADRESSE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9 520 €/m²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moyenne appartements, 191 boulevard Murat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fourchette 8 073 € – 11 347 €/m²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estimation à l'adresse · 01/09/2026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419856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Lecture 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cote d'adresse moyenne un immeuble entier ; un dernier étage rénové se place structurellement à la borne haute, voire au-delà.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0248" y="1481328"/>
            <a:ext cx="3639312" cy="3017520"/>
          </a:xfrm>
          <a:prstGeom prst="roundRect">
            <a:avLst>
              <a:gd name="adj" fmla="val 2121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68249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SELOGER — BOULEVARD MURAT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98848" y="1956816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9 905 €/m²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98848" y="254203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moyenne appartements du boulevard · août 2026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7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Auteuil Sud : 9 727 €/m²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(SeLoger, janvier 2026)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 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B3402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7 295 – 14 590 €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fourchette affichée du quartier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8848" y="3419856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Lecture 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boulevard se traite légèrement sous Auteuil Sud : c'est la rareté du bien, pas la moyenne de la rue, qui fixe le prix.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37576" y="1481328"/>
            <a:ext cx="3639312" cy="3017520"/>
          </a:xfrm>
          <a:prstGeom prst="roundRect">
            <a:avLst>
              <a:gd name="adj" fmla="val 2121"/>
            </a:avLst>
          </a:prstGeom>
          <a:solidFill>
            <a:srgbClr val="1F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68249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QUARTIER AUTEUIL — TENDANCE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66176" y="2048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 mois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0616" y="20482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E0A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+ 1,9 %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6176" y="2432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 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500616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8A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− 1,1 %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6176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 ans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0616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66176" y="3200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 ans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00616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8A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− 9,6 %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66176" y="3584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 ans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0616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E0A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+ 13,2 %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66176" y="407822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MeilleursAgents × Notaires-INSEE, septembre 2026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800600"/>
            <a:ext cx="11155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A985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19472"/>
            <a:ext cx="10607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spc="15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SYNTHÈSE MARCHÉ — 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cycle baissier parisien s'achève : Auteuil réamorce une hausse trimestrielle (+ 1,9 %) après − 9,6 % sur 5 ans, et le 16e progresse de + 3,7 % sur un an selon les Notaires. La demande familiale reste dense, l'offre de derniers étages rénovés est quasi nulle : vendre aujourd'hui, c'est vendre la rareté dans un marché qui repart (+ 13,2 % sur 10 ans à Auteuil).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DONNÉES DVF — DGFIP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Le micro-marché à 100 m : les ventes actées, ligne à ligne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1447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Ventes DVF géolocalisées (DGFiP), rayon 100 m autour du 191 boulevard Murat · valeur foncière / surface · mutation atypique 2022 (probable viager) écartée.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863840" y="1481328"/>
            <a:ext cx="382219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65008" y="1627632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BASE BON ÉTAT · 4 PIÈCES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65008" y="1865376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3402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9 700 – 10 400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65008" y="226771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€/m² · fourchette cible avant prime de rénovation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63840" y="2779776"/>
            <a:ext cx="382219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65008" y="292608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ÉTAGES ÉLEVÉS &amp; BIENS RÉNOVÉS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65008" y="3163824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3402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&gt; 10 700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65008" y="356616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€/m² · 8 Fantin-Latour 7e, 185 Murat 3P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863840" y="4078224"/>
            <a:ext cx="382219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5008" y="4224528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DANS L'IMMEUBLE · MARS 2025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65008" y="446227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E7D3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9 884 €/m²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065008" y="48646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2P de 37 m² au 1er étage · 390 500 €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863840" y="539496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Point clé —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l'écart entre étages bas (8 300 à 8 800 €/m²) et étages hauts rénovés (10 700 à 10 900 €/m²) dépasse 20 % : l'étage et l'état font le prix sur ce micro-marché.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DVF micro-secteur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MÉTHODE PAR COMPARAISON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Ventes 4 pièces comparables · rayon 100 m, 2024-2026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ADRESSE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7764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PIÈCES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SURFACE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3212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PRIX ACTE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12280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€/M²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76022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7393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03/2024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417320" y="177393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185 bd Murat · 5e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977640" y="177393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3P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709160" y="177393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 m²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532120" y="17739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740 000 €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812280" y="177393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10 924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02920" y="213969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01/2026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417320" y="213969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 rue Fantin-Latour · 2e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977640" y="213969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4P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709160" y="213969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 m²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532120" y="21396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945 000 €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812280" y="213969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10 859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57200" y="249174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5054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12/2024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1417320" y="250545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 rue Fantin-Latour · 7e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977640" y="250545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4P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709160" y="250545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 m²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532120" y="25054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830 000 €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812280" y="250545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10 751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02920" y="28712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01/2025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1417320" y="287121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185 bd Murat · 5e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3977640" y="287121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4P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709160" y="287121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91 m²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532120" y="287121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835 000 €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812280" y="287121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9 146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57200" y="322326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236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11/2025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417320" y="323697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 rue Fantin-Latour · 2e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977640" y="323697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4P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709160" y="323697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82 m²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532120" y="323697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725 000 €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812280" y="323697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8 804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02920" y="360273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06/2025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1417320" y="360273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178 quai Louis-Blériot · 2e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977640" y="360273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4P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709160" y="360273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 m²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532120" y="36027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735 000 €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812280" y="360273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8 445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57200" y="395478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396849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11/2025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1417320" y="396849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180 quai Louis-Blériot · 5e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3977640" y="396849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4P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709160" y="396849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 m²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5532120" y="39684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695 000 €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812280" y="396849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8 273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502920" y="43342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1417320" y="433425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/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3977640" y="433425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709160" y="433425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5532120" y="43342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6812280" y="433425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/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457200" y="468630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47000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1417320" y="470001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/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3977640" y="470001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4709160" y="470001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5532120" y="470001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8" name="Text 66"/>
          <p:cNvSpPr/>
          <p:nvPr/>
        </p:nvSpPr>
        <p:spPr>
          <a:xfrm>
            <a:off x="6812280" y="470001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/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502920" y="5084064"/>
            <a:ext cx="70866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515721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 ventes retenues  ·  base bon état 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9 700 – 10 400 €/m²</a:t>
            </a:r>
            <a:pPr indent="0" marL="0">
              <a:buNone/>
            </a:pPr>
            <a:r>
              <a:rPr lang="en-US" sz="10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 ·  bornes 8 273 – 10 924 €/m²  ·  viager 2022 écarté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001000" y="1463040"/>
            <a:ext cx="3685032" cy="2651760"/>
          </a:xfrm>
          <a:prstGeom prst="roundRect">
            <a:avLst>
              <a:gd name="adj" fmla="val 2414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02168" y="166420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DANS L'IMMEUBLE &amp; LE BOULEVARD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02168" y="1938528"/>
            <a:ext cx="3282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191 bd Murat · 2P 37 m² au 1er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390 500 € · 9 884 €/m² · mars 2025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185 bd Murat · 3P 68 m² au 5e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740 000 € · 10 924 €/m² · mars 2024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191 bd Murat · 89 m² · viager 2022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343 000 € · mutation atypique · écartée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8001000" y="4343400"/>
            <a:ext cx="3685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Lecture —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l'étage et l'état font le prix : les 4 pièces d'étages bas signent 8 300 à 8 800 €/m², les étages hauts et les biens rénovés 10 700 à 10 900 €/m². Un dernier étage rénové avec ascenseur se place au sommet de cette hiérarchie.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Comparables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VALORISATION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Triangulation par quatre méthodes indépendantes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903720" cy="859536"/>
          </a:xfrm>
          <a:prstGeom prst="roundRect">
            <a:avLst>
              <a:gd name="adj" fmla="val 6383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0078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56362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Comparables DVF ajustés
</a:t>
            </a:r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étages hauts rénovés (10 700 à 10 900 €/m²) × 85 m², plus prime dernier étage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97880" y="1481328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935 000 €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6903720" cy="859536"/>
          </a:xfrm>
          <a:prstGeom prst="roundRect">
            <a:avLst>
              <a:gd name="adj" fmla="val 6383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67004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F2A4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5328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MeilleursAgents · borne haute
</a:t>
            </a:r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11 347 €/m², haut de fourchette de l'adresse, × 85 m²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0" y="2450592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965 000 €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6903720" cy="859536"/>
          </a:xfrm>
          <a:prstGeom prst="roundRect">
            <a:avLst>
              <a:gd name="adj" fmla="val 6383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6393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502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Cote SeLoger ajustée
</a:t>
            </a:r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9 905 €/m² du boulevard + prime étage et rénovation (+ 12 %) × 85 m²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3419856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945 000 €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389120"/>
            <a:ext cx="6903720" cy="859536"/>
          </a:xfrm>
          <a:prstGeom prst="roundRect">
            <a:avLst>
              <a:gd name="adj" fmla="val 6383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60857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F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47141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Vente indexée dans l'immeuble
</a:t>
            </a:r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9 884 €/m² (2P au 1er, mars 2025) + hiérarchie d'étage et d'état (+ 14 %)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97880" y="4389120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955 000 €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2920" y="537667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28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Dispersion des quatre méthodes : ± 1,6 % autour de 950 000 € · convergence forte, avis robuste.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18120" y="144475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AJUSTEMENTS RETENUS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18120" y="1755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7e et dernier étage, ascenseur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0561320" y="175564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+ 5 à 7 %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818120" y="2093976"/>
            <a:ext cx="386791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21351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Rénovation luxueuse sur mesure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0561320" y="2135124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+ 8 à 12 %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818120" y="2473452"/>
            <a:ext cx="386791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2514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Parties communes refaites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10561320" y="251460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+ 1 à 2 %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818120" y="2852928"/>
            <a:ext cx="386791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8940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Boulevard circulant côté rue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10561320" y="2894076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B3402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− 1 à 2 %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7818120" y="3232404"/>
            <a:ext cx="386791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DPE à établir (classe inconnue)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10561320" y="3273552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B3402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 à − 5 %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818120" y="3611880"/>
            <a:ext cx="386791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36530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Surface Carrez à confirmer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10561320" y="365302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B3402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± 1 %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818120" y="3991356"/>
            <a:ext cx="386791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4224528"/>
            <a:ext cx="3867912" cy="2057400"/>
          </a:xfrm>
          <a:prstGeom prst="roundRect">
            <a:avLst>
              <a:gd name="adj" fmla="val 3111"/>
            </a:avLst>
          </a:prstGeom>
          <a:solidFill>
            <a:srgbClr val="1F2A44"/>
          </a:solidFill>
          <a:ln/>
        </p:spPr>
      </p:sp>
      <p:sp>
        <p:nvSpPr>
          <p:cNvPr id="45" name="Text 43"/>
          <p:cNvSpPr/>
          <p:nvPr/>
        </p:nvSpPr>
        <p:spPr>
          <a:xfrm>
            <a:off x="8037576" y="44256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AVIS DE VALEUR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37576" y="47000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950 000 €</a:t>
            </a:r>
            <a:endParaRPr lang="en-US" sz="3300" dirty="0"/>
          </a:p>
        </p:txBody>
      </p:sp>
      <p:sp>
        <p:nvSpPr>
          <p:cNvPr id="47" name="Text 45"/>
          <p:cNvSpPr/>
          <p:nvPr/>
        </p:nvSpPr>
        <p:spPr>
          <a:xfrm>
            <a:off x="8037576" y="53218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9D2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11 176 €/m² · fourchette 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880 000 – 990 000 €
</a:t>
            </a:r>
            <a:pPr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9AA6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 vénale, libre, hors mobilier · septembre 2026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Valorisation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MISE EN MARCHÉ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Trois scénarios de commercialisation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39312" cy="3520440"/>
          </a:xfrm>
          <a:prstGeom prst="roundRect">
            <a:avLst>
              <a:gd name="adj" fmla="val 1818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SCÉNARIO TENSION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2376" y="19568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935 000 €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22376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11 000 €/m²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22376" y="28346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d'appel sous la valeur centrale pour déclencher la concurrence entre acquéreurs.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Visites groupées semaines 1-2, objectif multi-offres au-dessus du prix affiché.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Délai attendu : moins de 6 semaines.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Adapté si besoin de liquidité rapide (rachat, mutation).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70248" y="1481328"/>
            <a:ext cx="3639312" cy="3520440"/>
          </a:xfrm>
          <a:prstGeom prst="roundRect">
            <a:avLst>
              <a:gd name="adj" fmla="val 18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SCÉNARIO MARCHÉ — RECOMMANDÉ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9704" y="19568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995 000 €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9704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2E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objectif de signature ≈ 950 à 965 000 €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9704" y="28346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E8EC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Affichage au-dessus de la cote maximale des estimateurs, marge de négociation de 3 à 4 %.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E8EC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 assumé « dernier étage rénové » : photos pro, dossier DVF à l'appui.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E8EC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Délai attendu : 6 à 10 semaines.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E8EC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Meilleur équilibre prix final / délai / pouvoir de négociation.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037576" y="1481328"/>
            <a:ext cx="3639312" cy="3520440"/>
          </a:xfrm>
          <a:prstGeom prst="roundRect">
            <a:avLst>
              <a:gd name="adj" fmla="val 1818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SCÉNARIO PATRIMONIAL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57032" y="19568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1 040 000 €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57032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8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vise le record du micro-marché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57032" y="28346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 fonctionne que sur un coup de cœur hors références de marché.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Risque d'usure de l'annonce : au-delà de 8 semaines, décote de visibilité.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Délai attendu : 4 à 6 mois, issue incertaine.</a:t>
            </a:r>
            <a:endParaRPr lang="en-US" sz="93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réserver si aucune contrainte de calendrier.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02920" y="5230368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A985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2180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spc="15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RECOMMANDATION —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scénario Marché : affichage 995 000 € honoraires inclus à la charge du vendeur, objectif de signature entre 950 000 et 965 000 €, lancement après DPE et Carrez, avec 10 jours d'off-market avant les portails. Chaque semaine au-delà de 10 semaines d'exposition coûte statistiquement plus cher que les 3 à 4 % de marge concédés.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de prix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SÉCURISATION DE LA VENTE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Points de vigilance &amp; plan d'action avant diffusion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0136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B3402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01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10149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DPE à établir — préalable bloquant
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Aucune annonce ne peut être diffusée sans diagnostic valide. C'est la principale variable de prix résiduelle : une classe E déplacerait l'avis de − 3 à − 5 % (audit énergétique obligatoire) ; un C ou D confirmé sécurise le positionnement au-dessus des cotes en ligne.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702052"/>
            <a:ext cx="1118311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022092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B3402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220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793492"/>
            <a:ext cx="10149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Acter la climatisation en assemblée
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voter ou documenter l'autorisation d'installation en toiture (accord de la copropriété). Un confort d'été acté est un argument rare à Auteuil, et un vrai différenciant face aux derniers étages concurrents en DPE 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922776"/>
            <a:ext cx="1118311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242816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A985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428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014216"/>
            <a:ext cx="10149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Compléter le dossier de copropriété
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PV des trois dernières AG (dont la mutation atypique de 2022 à vérifier), tantièmes, charges, travaux votés et taxe foncière : les premières demandes de tout acquéreur financé — les réunir avant diffusion évite 2 à 3 semaines de délai sous offre.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143500"/>
            <a:ext cx="1118311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4635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A985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4635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234940"/>
            <a:ext cx="10149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Préparation à la mise en marché
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Campagne photo professionnelle en lumière du jour : le séjour de dernier étage, les rangements sur mesure et le hall rénové sont les images qui vendent — avec 10 jours de diffusion off-market au fichier acquéreurs Trudaines avant les portails.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d'action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TRANSPARENCE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Méthodologie, sources &amp; réserves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MOBILISÉES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773936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DVF — Demandes de valeurs foncières (DGFiP / data.gouv.fr) : ventes d'appartements 2022-2026 dans un rayon de 100 m autour du bien, dont une vente dans l'immeuble (mars 2025) et une mutation atypique 2022 écartée (probable viager).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MeilleursAgents (septembre 2026) : cote de l'adresse 191 boulevard Murat (9 520 €/m², fourchette 8 073 – 11 347) et indices d'évolution du quartier Auteuil (données MA × Notaires-INSEE).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SeLoger : prix moyen du boulevard Murat (9 905 €/m², août 2026) et du quartier Auteuil Sud (9 727 €/m², janvier 2026).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Descriptif et prestations fournis par le propriétaire (dossier NOCHIAU, septembre 2026).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LIMITES &amp; RÉSERVES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46520" y="1773936"/>
            <a:ext cx="52395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base DVF ne renseigne ni l'étage, ni l'état : les effets « dernier étage ascenseur » et « rénovation luxueuse » sont traités par ajustement d'expertise (+ 5 à 7 % et + 8 à 12 %), conformément aux pratiques des chartes de l'expertise immobilière.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 établi sur pièces, sans visite ni audit technique, juridique ou de copropriété ; surfaces Carrez déclarées non vérifiées.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classe DPE à venir constitue la principale incertitude résiduelle (impact estimé 0 à − 5 %).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présent document est un avis de valeur : il ne constitue ni une expertise au sens de la Charte de l'expertise en évaluation immobilière, ni un engagement de prix de vente.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507492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 — Conseil &amp; valorisation immobilière</a:t>
            </a:r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 de valeur n° MURAT-4P · établi le 2 septembre 2026 · validité 3 mois sous réserve d'évolution du marché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: samy.santamarina@gmail.com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Méthodologie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L'AGENCE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Trudaines Immobilier, qui vous accompagne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NOTRE MAISON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773936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Réseau de consultants immobiliers premium, structuré par la data et l'automatisation : nous concentrons notre expertise sur l'ouest et le nord de Paris pour vendre au juste prix, dans les meilleurs délais.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: vente d'appartements et d'immeubles, du studio au bien d'exception, avec un dossier de preuve DVF systématique.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Chasse immobilière : recherche sur mesure pour acquéreurs, y compris en off-market.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Immobilier commercial : locaux, murs et fonds de commerce.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VOTRE INTERLOCUTEUR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46520" y="1773936"/>
            <a:ext cx="52395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Samy Santamarina, président fondateur : un interlocuteur unique, de l'avis de valeur à la signature chez le notaire.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Trudaines (MIGA SASU) · siège : 2 rue Livingstone, 75018 Paris · RCS Paris 930 663 646.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 professionnelle T n° CPI 9201 2024 000 000 114, délivrée par la CCI Paris Île-de-France.</a:t>
            </a:r>
            <a:endParaRPr lang="en-US" sz="10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Garantie financière Galian 120 000 € (sociétaire 175720A) · RCP GAN Assurances.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507492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 — Conseil &amp; valorisation immobilière</a:t>
            </a:r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 de valeur n° MURAT-4P · établi le 2 septembre 2026 · validité 3 mois sous réserve d'évolution du marché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: samy.santamarina@gmail.com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L'agence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MARCHÉ VIVANT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concurrence en ligne · 4 pièces et 3 chambres, Auteuil Sud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BIEN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POINTS CLÉS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7764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ÉTAGE · DPE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SURFACE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3212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PRIX AFFICHÉ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12280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828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€/M²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76022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7393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 A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417320" y="177393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Rénové, balcon SO, parking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977640" y="177393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6/9 · DPE C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709160" y="177393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 m²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532120" y="17739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830 000 €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812280" y="177393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9 217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02920" y="213969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 B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417320" y="213969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Dernier étage, sans ascenseur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977640" y="213969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6/6 · DPE E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709160" y="213969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 m²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532120" y="21396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869 000 €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812280" y="213969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10 485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57200" y="249174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5054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1417320" y="250545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Dernier étage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977640" y="250545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6/6 · DPE 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709160" y="250545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 m²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532120" y="25054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865 000 €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812280" y="250545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9 830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02920" y="28712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 D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1417320" y="287121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Étage élevé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3977640" y="287121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6/9 · DPE C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709160" y="287121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91 m²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532120" y="287121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880 000 €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812280" y="287121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9 670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57200" y="322326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236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 E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417320" y="323697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Étage élevé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977640" y="323697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6/9 · DPE C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709160" y="323697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 m²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532120" y="323697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930 000 €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812280" y="323697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9 973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02920" y="360273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1417320" y="360273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/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977640" y="360273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709160" y="360273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532120" y="36027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812280" y="360273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/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57200" y="395478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396849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1417320" y="396849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/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3977640" y="396849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709160" y="396849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5532120" y="39684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812280" y="396849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/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502920" y="43342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1417320" y="433425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/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3977640" y="433425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709160" y="433425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5532120" y="43342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6812280" y="433425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/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457200" y="4686300"/>
            <a:ext cx="7178040" cy="365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47000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1417320" y="470001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/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3977640" y="470001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4709160" y="470001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5532120" y="470001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980" dirty="0"/>
          </a:p>
        </p:txBody>
      </p:sp>
      <p:sp>
        <p:nvSpPr>
          <p:cNvPr id="68" name="Text 66"/>
          <p:cNvSpPr/>
          <p:nvPr/>
        </p:nvSpPr>
        <p:spPr>
          <a:xfrm>
            <a:off x="6812280" y="470001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/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502920" y="5084064"/>
            <a:ext cx="70866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515721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 concurrents directs analysés  ·  médiane affichée 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9 670 €/m²</a:t>
            </a:r>
            <a:pPr indent="0" marL="0">
              <a:buNone/>
            </a:pPr>
            <a:r>
              <a:rPr lang="en-US" sz="1050" dirty="0">
                <a:solidFill>
                  <a:srgbClr val="2327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 ·  aucun ne cumule dernier étage, ascenseur et rénovation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001000" y="1463040"/>
            <a:ext cx="3685032" cy="2651760"/>
          </a:xfrm>
          <a:prstGeom prst="roundRect">
            <a:avLst>
              <a:gd name="adj" fmla="val 2414"/>
            </a:avLst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02168" y="166420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VOTRE SEGMENT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02168" y="1938528"/>
            <a:ext cx="3282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31 biens comparables en ligne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pièces · 3 chambres · 80 à 100 m²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Prix affiché médian du segment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9 670 €/m² · septembre 2026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Votre bien, seul sur son segment
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dernier étage · ascenseur · rénové luxe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8001000" y="4343400"/>
            <a:ext cx="3685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Lecture —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7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derniers étages concurrents sont sans ascenseur ou en DPE E ; le seul bien rénové n'offre ni le dernier étage ni des prestations sur mesure. Cette rareté autorise un positionnement assumé au-dessus du marché affiché.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F2A4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TRUDAINES</a:t>
            </a:r>
            <a:pPr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Avis de valeur · 191 boulevard Murat, Paris 16e   ·   Septembre 2026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412480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 vivant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85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2026-07-22T16:46:15Z</dcterms:created>
  <dcterms:modified xsi:type="dcterms:W3CDTF">2026-07-22T16:46:15Z</dcterms:modified>
</cp:coreProperties>
</file>